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188720"/>
            <a:ext cx="1371600" cy="777240"/>
          </a:xfrm>
          <a:prstGeom prst="line">
            <a:avLst/>
          </a:prstGeom>
          <a:noFill/>
          <a:ln w="15875">
            <a:solidFill>
              <a:srgbClr val="2835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8869680" y="1188720"/>
            <a:ext cx="822960" cy="1463040"/>
          </a:xfrm>
          <a:prstGeom prst="line">
            <a:avLst/>
          </a:prstGeom>
          <a:noFill/>
          <a:ln w="15875">
            <a:solidFill>
              <a:srgbClr val="2835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0607040" y="1965960"/>
            <a:ext cx="457200" cy="1600200"/>
          </a:xfrm>
          <a:prstGeom prst="line">
            <a:avLst/>
          </a:prstGeom>
          <a:noFill/>
          <a:ln w="15875">
            <a:solidFill>
              <a:srgbClr val="2835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2651760"/>
            <a:ext cx="457200" cy="1828800"/>
          </a:xfrm>
          <a:prstGeom prst="line">
            <a:avLst/>
          </a:prstGeom>
          <a:noFill/>
          <a:ln w="15875">
            <a:solidFill>
              <a:srgbClr val="2835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3566160"/>
            <a:ext cx="731520" cy="1371600"/>
          </a:xfrm>
          <a:prstGeom prst="line">
            <a:avLst/>
          </a:prstGeom>
          <a:noFill/>
          <a:ln w="15875">
            <a:solidFill>
              <a:srgbClr val="2835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0" y="4480560"/>
            <a:ext cx="2011680" cy="457200"/>
          </a:xfrm>
          <a:prstGeom prst="line">
            <a:avLst/>
          </a:prstGeom>
          <a:noFill/>
          <a:ln w="15875">
            <a:solidFill>
              <a:srgbClr val="2835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326880" y="1965960"/>
            <a:ext cx="1737360" cy="2514600"/>
          </a:xfrm>
          <a:prstGeom prst="line">
            <a:avLst/>
          </a:prstGeom>
          <a:noFill/>
          <a:ln w="15875">
            <a:solidFill>
              <a:srgbClr val="2835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10344" y="1106424"/>
            <a:ext cx="164592" cy="164592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981944" y="188366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8787384" y="2569464"/>
            <a:ext cx="164592" cy="164592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24744" y="348386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9244584" y="4398264"/>
            <a:ext cx="164592" cy="164592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56264" y="485546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148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4C8DFF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NETFORGE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" y="260604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อัพเดทโปรเจคล่าสุด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85800" y="36118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VLSM Calculator &amp; Network Topology Visualizer — พร้อมส่วนขยาย IPv6 แบบ Dual-Stack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4251960"/>
            <a:ext cx="2011680" cy="914"/>
          </a:xfrm>
          <a:prstGeom prst="line">
            <a:avLst/>
          </a:prstGeom>
          <a:noFill/>
          <a:ln w="25400">
            <a:solidFill>
              <a:srgbClr val="4C8D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รายงานความคืบหน้าโปรเจค  ·  25 กรกฎาคม 2569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6281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จัดทำโดย Sento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841B8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ภาพรวมโปรเจค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NetForge คืออะไร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เครื่องมือคำนวณ Subnet แบบ </a:t>
            </a:r>
            <a:pPr indent="0" marL="0">
              <a:lnSpc>
                <a:spcPct val="135000"/>
              </a:lnSpc>
              <a:buNone/>
            </a:pPr>
            <a:r>
              <a:rPr lang="en-US" sz="1450" b="1" dirty="0">
                <a:solidFill>
                  <a:srgbClr val="1841B8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VLSM</a:t>
            </a:r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 พร้อมระบบจำลอง Topology เครือข่ายแบบโต้ตอบได้ในตัวเดียวกัน 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พัฒนาด้วย Vanilla JavaScript, HTML5 Canvas และ Tailwind CSS — ทำงานครบทั้งการคำนวณ การแสดงผล และการสร้างคำสั่งตั้งค่าอุปกรณ์ โดยไม่ต้องพึ่งพา Backend ใดๆ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87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กลุ่มเป้าหมายการใช้งาน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4553712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นักศึกษา/ผู้เรียนเครือข่ายที่ต้องฝึกออกแบบ Subnet และเห็นผลลัพธ์เป็นภาพ Topology ทันที รวมถึงผู้ที่ต้องการ Export คำสั่งไปตั้งค่าอุปกรณ์จริงแบบ Cisco IOS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554480"/>
            <a:ext cx="475488" cy="475488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3437" y="1668597"/>
            <a:ext cx="247254" cy="24725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65976" y="1508760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คำนวณ VLSM อัตโนมัติ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65976" y="1828800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จัดสรร Subnet ตามจำนวน Host จริงของแต่ละแผนก ไม่เท่ากันแบบ Fixed-length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89320" y="2724912"/>
            <a:ext cx="475488" cy="475488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437" y="2839029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65976" y="267919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รองรับ IPv6 แบบ Dual-Stack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665976" y="2999232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คำนวณคู่ขนานกับ IPv4 พร้อมกันเสมอ ไม่ต้องเลือกอย่างใดอย่างหนึ่ง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89320" y="3895344"/>
            <a:ext cx="475488" cy="475488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437" y="4009461"/>
            <a:ext cx="247254" cy="247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65976" y="3849624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Topology Canvas เชิงโต้ตอบ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665976" y="4169664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ลากวางอุปกรณ์ เชื่อมสาย เห็นทิศทางข้อมูลไหลแบบเรียลไทม์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989320" y="5065776"/>
            <a:ext cx="475488" cy="475488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437" y="5179893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65976" y="502005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สร้างคำสั่ง CLI อัตโนมัติ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665976" y="5340096"/>
            <a:ext cx="4901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Export เป็น Cisco IOS Config ทั้ง Router และ Switch ใช้งานได้ทันที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058400" y="652881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NetForge  ·  02 / 13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841B8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สถาปัตยกรรมระบบ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โครงสร้างการทำงานโดยรวม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" y="1837944"/>
            <a:ext cx="475488" cy="475488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693" y="1952061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386584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ผู้ใช้กรอก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แผนก + Host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432" y="2167128"/>
            <a:ext cx="265176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606040" y="169164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236976" y="1837944"/>
            <a:ext cx="475488" cy="475488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093" y="1952061"/>
            <a:ext cx="247254" cy="2472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679192" y="2386584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VLSM / IPv6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Engine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2167128"/>
            <a:ext cx="265176" cy="23774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663440" y="1691640"/>
            <a:ext cx="1737360" cy="1188720"/>
          </a:xfrm>
          <a:prstGeom prst="roundRect">
            <a:avLst>
              <a:gd name="adj" fmla="val 7692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5294376" y="1837944"/>
            <a:ext cx="475488" cy="475488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493" y="1952061"/>
            <a:ext cx="247254" cy="24725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36592" y="2386584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State กลาง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(app.js)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5527548" y="2880360"/>
            <a:ext cx="9144" cy="274320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</p:sp>
      <p:sp>
        <p:nvSpPr>
          <p:cNvPr id="19" name="Shape 12"/>
          <p:cNvSpPr/>
          <p:nvPr/>
        </p:nvSpPr>
        <p:spPr>
          <a:xfrm>
            <a:off x="548640" y="3200400"/>
            <a:ext cx="2788920" cy="960120"/>
          </a:xfrm>
          <a:prstGeom prst="roundRect">
            <a:avLst>
              <a:gd name="adj" fmla="val 9524"/>
            </a:avLst>
          </a:prstGeom>
          <a:solidFill>
            <a:srgbClr val="0B1220"/>
          </a:solidFill>
          <a:ln/>
        </p:spPr>
      </p:sp>
      <p:sp>
        <p:nvSpPr>
          <p:cNvPr id="20" name="Shape 13"/>
          <p:cNvSpPr/>
          <p:nvPr/>
        </p:nvSpPr>
        <p:spPr>
          <a:xfrm>
            <a:off x="731520" y="3419856"/>
            <a:ext cx="512064" cy="512064"/>
          </a:xfrm>
          <a:prstGeom prst="ellipse">
            <a:avLst/>
          </a:prstGeom>
          <a:solidFill>
            <a:srgbClr val="4C8DFF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15" y="3542751"/>
            <a:ext cx="266273" cy="26627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371600" y="3383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Topology Canvas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1371600" y="36941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topology.js + devices.js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3611880" y="3200400"/>
            <a:ext cx="2788920" cy="960120"/>
          </a:xfrm>
          <a:prstGeom prst="roundRect">
            <a:avLst>
              <a:gd name="adj" fmla="val 9524"/>
            </a:avLst>
          </a:prstGeom>
          <a:solidFill>
            <a:srgbClr val="0B1220"/>
          </a:solidFill>
          <a:ln/>
        </p:spPr>
      </p:sp>
      <p:sp>
        <p:nvSpPr>
          <p:cNvPr id="25" name="Shape 17"/>
          <p:cNvSpPr/>
          <p:nvPr/>
        </p:nvSpPr>
        <p:spPr>
          <a:xfrm>
            <a:off x="3794760" y="3419856"/>
            <a:ext cx="512064" cy="512064"/>
          </a:xfrm>
          <a:prstGeom prst="ellipse">
            <a:avLst/>
          </a:prstGeom>
          <a:solidFill>
            <a:srgbClr val="4C8DFF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7655" y="3542751"/>
            <a:ext cx="266273" cy="26627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4434840" y="3383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CLI Generator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4434840" y="36941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ui.js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1943100" y="3154680"/>
            <a:ext cx="3063240" cy="914"/>
          </a:xfrm>
          <a:prstGeom prst="line">
            <a:avLst/>
          </a:prstGeom>
          <a:noFill/>
          <a:ln w="19050">
            <a:solidFill>
              <a:srgbClr val="475569"/>
            </a:solidFill>
            <a:prstDash val="dash"/>
          </a:ln>
        </p:spPr>
      </p:sp>
      <p:sp>
        <p:nvSpPr>
          <p:cNvPr id="30" name="Shape 21"/>
          <p:cNvSpPr/>
          <p:nvPr/>
        </p:nvSpPr>
        <p:spPr>
          <a:xfrm>
            <a:off x="1938528" y="3154680"/>
            <a:ext cx="9144" cy="4572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5001768" y="3154680"/>
            <a:ext cx="9144" cy="4572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7178040" y="1691640"/>
            <a:ext cx="446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แผนที่โมดูล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2057400"/>
          <a:ext cx="446227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13639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41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vlsm.js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กลไกคำนวณ VLSM (IPv4)</a:t>
                      </a:r>
                      <a:endParaRPr lang="en-US" sz="115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41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vlsm6.js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กลไกคำนวณ IPv6 (BigInt 128-bit)</a:t>
                      </a:r>
                      <a:endParaRPr lang="en-US" sz="115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41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devices.js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โครงสร้างข้อมูลอุปกรณ์ (Router/Switch/PC/Server)</a:t>
                      </a:r>
                      <a:endParaRPr lang="en-US" sz="115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41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topology.js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Canvas Rendering + Particle Animation</a:t>
                      </a:r>
                      <a:endParaRPr lang="en-US" sz="115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41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ui.js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CLI Generator, Theme, Resizer</a:t>
                      </a:r>
                      <a:endParaRPr lang="en-US" sz="115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41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app.js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569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State กลาง + จุดเริ่มต้นระบบ</a:t>
                      </a:r>
                      <a:endParaRPr lang="en-US" sz="115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34" name="Text 24"/>
          <p:cNvSpPr/>
          <p:nvPr/>
        </p:nvSpPr>
        <p:spPr>
          <a:xfrm>
            <a:off x="10058400" y="652881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NetForge  ·  03 / 13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841B8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Device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แยก Logic: Router · Switch · PC · Server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0B122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361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8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NetworkDevice </a:t>
            </a:r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(Base Class)  —  id, type, x, y, w, h, label, color, icon, subnetInfo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95728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77340" y="2688336"/>
            <a:ext cx="548640" cy="548640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014" y="2820010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4198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RouterDevice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" y="3877056"/>
            <a:ext cx="2221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มีได้เพียงตัวเดียวเสมอในระบบ</a:t>
            </a:r>
            <a:endParaRPr lang="en-US" sz="108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เป็นเจ้าของ Base Network</a:t>
            </a:r>
            <a:endParaRPr lang="en-US" sz="108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getBaseNetworkSummary()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374136" y="2395728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02836" y="2688336"/>
            <a:ext cx="548640" cy="548640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510" y="2820010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11296" y="34198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SwitchDevice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75304" y="3877056"/>
            <a:ext cx="2221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ผูกกับ 1 แผนกแบบ 1:1 เสมอ</a:t>
            </a:r>
            <a:endParaRPr lang="en-US" sz="108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VLAN ID คงที่ถาวร ผูกกับ deptId</a:t>
            </a:r>
            <a:endParaRPr lang="en-US" sz="108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(ไม่คำนวณจาก index ของ Array)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6199632" y="2395728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228332" y="2688336"/>
            <a:ext cx="548640" cy="548640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006" y="2820010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36792" y="34198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PCDevice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0" y="3877056"/>
            <a:ext cx="2221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ผู้ใช้วางเองอิสระบน Canvas</a:t>
            </a:r>
            <a:endParaRPr lang="en-US" sz="108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ผูก IP + แผนกตอนลากเชื่อมสาย</a:t>
            </a:r>
            <a:endParaRPr lang="en-US" sz="108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suggestNextIp() แนะนำ IP ให้</a:t>
            </a:r>
            <a:endParaRPr lang="en-US" sz="1080" dirty="0"/>
          </a:p>
        </p:txBody>
      </p:sp>
      <p:sp>
        <p:nvSpPr>
          <p:cNvPr id="21" name="Shape 16"/>
          <p:cNvSpPr/>
          <p:nvPr/>
        </p:nvSpPr>
        <p:spPr>
          <a:xfrm>
            <a:off x="9025128" y="2395728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053828" y="2688336"/>
            <a:ext cx="548640" cy="548640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502" y="2820010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62288" y="34198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ServerDevice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226296" y="3877056"/>
            <a:ext cx="2221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โครงเดียวกับ PCDevice</a:t>
            </a:r>
            <a:endParaRPr lang="en-US" sz="108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สื่อความหมาย Host ให้บริการ</a:t>
            </a:r>
            <a:endParaRPr lang="en-US" sz="1080" dirty="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ปกติกำหนด IP แบบ Static</a:t>
            </a:r>
            <a:endParaRPr lang="en-US" sz="1080" dirty="0"/>
          </a:p>
        </p:txBody>
      </p:sp>
      <p:sp>
        <p:nvSpPr>
          <p:cNvPr id="26" name="Text 20"/>
          <p:cNvSpPr/>
          <p:nvPr/>
        </p:nvSpPr>
        <p:spPr>
          <a:xfrm>
            <a:off x="10058400" y="652881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NetForge  ·  04 / 13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841B8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VLSM Engine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กลไกคำนวณ IPv4 แบบ VLSM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64792"/>
            <a:ext cx="384048" cy="384048"/>
          </a:xfrm>
          <a:prstGeom prst="ellipse">
            <a:avLst/>
          </a:prstGeom>
          <a:solidFill>
            <a:srgbClr val="1841B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25856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เรียงลำดับแผนก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56946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จากจำนวน Host มาก → น้อย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18104" y="2308860"/>
            <a:ext cx="201168" cy="91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46704" y="1600200"/>
            <a:ext cx="2542032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9584" y="1764792"/>
            <a:ext cx="384048" cy="384048"/>
          </a:xfrm>
          <a:prstGeom prst="ellipse">
            <a:avLst/>
          </a:prstGeom>
          <a:solidFill>
            <a:srgbClr val="1841B8"/>
          </a:solidFill>
          <a:ln/>
        </p:spPr>
      </p:sp>
      <p:sp>
        <p:nvSpPr>
          <p:cNvPr id="12" name="Text 10"/>
          <p:cNvSpPr/>
          <p:nvPr/>
        </p:nvSpPr>
        <p:spPr>
          <a:xfrm>
            <a:off x="3529584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11296" y="225856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คำนวณ Host ที่ต้องใช้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11296" y="256946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needed = max(hosts + 2, 4)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16168" y="2308860"/>
            <a:ext cx="201168" cy="91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4768" y="1600200"/>
            <a:ext cx="2542032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7648" y="1764792"/>
            <a:ext cx="384048" cy="384048"/>
          </a:xfrm>
          <a:prstGeom prst="ellipse">
            <a:avLst/>
          </a:prstGeom>
          <a:solidFill>
            <a:srgbClr val="1841B8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225856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หาจำนวนบิต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9360" y="256946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bits = ceil(log2(needed))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714232" y="2308860"/>
            <a:ext cx="201168" cy="91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42832" y="1600200"/>
            <a:ext cx="2542032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25712" y="1764792"/>
            <a:ext cx="384048" cy="384048"/>
          </a:xfrm>
          <a:prstGeom prst="ellipse">
            <a:avLst/>
          </a:prstGeom>
          <a:solidFill>
            <a:srgbClr val="1841B8"/>
          </a:solidFill>
          <a:ln/>
        </p:spPr>
      </p:sp>
      <p:sp>
        <p:nvSpPr>
          <p:cNvPr id="24" name="Text 22"/>
          <p:cNvSpPr/>
          <p:nvPr/>
        </p:nvSpPr>
        <p:spPr>
          <a:xfrm>
            <a:off x="9125712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07424" y="225856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จัดสรรต่อเนื่อง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07424" y="2569464"/>
            <a:ext cx="22128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จาก Base Network ทีละแผนก พร้อมตรวจสอบขอบเขต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34290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ตัวอย่างจริง — Base 192.168.1.0/24 (ชุดข้อมูล “Small Office”)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914400"/>
        </p:xfrm>
        <a:graphic>
          <a:graphicData uri="http://schemas.openxmlformats.org/drawingml/2006/table">
            <a:tbl>
              <a:tblPr/>
              <a:tblGrid>
                <a:gridCol w="2770632"/>
                <a:gridCol w="1856232"/>
                <a:gridCol w="1463040"/>
                <a:gridCol w="2496312"/>
                <a:gridCol w="2505456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แผนก</a:t>
                      </a:r>
                      <a:endParaRPr lang="en-US" sz="115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Host ต้องการ</a:t>
                      </a:r>
                      <a:endParaRPr lang="en-US" sz="115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CIDR</a:t>
                      </a:r>
                      <a:endParaRPr lang="en-US" sz="115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Network</a:t>
                      </a:r>
                      <a:endParaRPr lang="en-US" sz="115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Usable Range</a:t>
                      </a:r>
                      <a:endParaRPr lang="en-US" sz="115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D24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Guest-WiFi</a:t>
                      </a:r>
                      <a:endParaRPr lang="en-US" sz="120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41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/27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.1 – .30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D24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Office</a:t>
                      </a:r>
                      <a:endParaRPr lang="en-US" sz="120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41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/27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192.168.1.32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.33 – .62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D24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CCTV</a:t>
                      </a:r>
                      <a:endParaRPr lang="en-US" sz="120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841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/28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192.168.1.64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.65 – .78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/>
          <p:nvPr/>
        </p:nvSpPr>
        <p:spPr>
          <a:xfrm>
            <a:off x="548640" y="5532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ยืนยันตัวเลขด้วยการรันฟังก์ชัน calculateVLSM() จริงจากซอร์สโค้ด ไม่ได้คำนวณด้วยมือ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0058400" y="652881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NetForge  ·  05 / 13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8DFF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ส่วนขยายใหม่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ทำไมต้องเพิ่ม IPv6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IPv4 มีพื้นที่ Address จำกัดตายตัว ระบบเครือข่ายจริงในปัจจุบันจึงต้องรองรับทั้งสองมาตรฐานพร้อมกัน (Dual-Stack) ไม่ใช่เปลี่ยนทีเดียวทั้งระบบ — NetForge จึงต้องคำนวณทั้งคู่ในเครื่องมือเดียว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141B2E"/>
          </a:solidFill>
          <a:ln w="12700">
            <a:solidFill>
              <a:srgbClr val="2835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31546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4C8DFF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2^32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41248" y="399592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= 4.3 พันล้าน ที่อยู่ IPv4 ทั้งหมด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ถูกจัดสรรจนเกือบหมดในทางปฏิบัติ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78892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141B2E"/>
          </a:solidFill>
          <a:ln w="12700">
            <a:solidFill>
              <a:srgbClr val="2835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0288" y="31546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128 บิต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90288" y="399592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ขนาด Address ของ IPv6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(เทียบกับ 32 บิตของ IPv4)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2788920"/>
            <a:ext cx="3429000" cy="2377440"/>
          </a:xfrm>
          <a:prstGeom prst="roundRect">
            <a:avLst>
              <a:gd name="adj" fmla="val 3846"/>
            </a:avLst>
          </a:prstGeom>
          <a:solidFill>
            <a:srgbClr val="141B2E"/>
          </a:solidFill>
          <a:ln w="12700">
            <a:solidFill>
              <a:srgbClr val="2835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9328" y="31546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4C8DFF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2 โหมด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339328" y="399592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IPv4 และ IPv6 คำนวณพร้อมกันเสมอ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ไม่ล้างค่าฝั่งใดฝั่งหนึ่งเวลาสลับโหมด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0" y="652881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NetForge  ·  06 / 13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841B8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IPv6 Engine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การออกแบบเชิงเทคนิคของ IPv6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0195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เลขคณิต 128-bit ด้วย BigInt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221992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ใช้ JavaScript BigInt แทน Number เพราะ IPv6 มีขนาด 128 บิต เกินขอบเขตความแม่นยำของ Number ปกติ (ipv6ToBig / bigToIpv6)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19672" y="1947672"/>
            <a:ext cx="457200" cy="457200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5740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0195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บีบอัดตามมาตรฐาน RFC 5952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78040" y="2221992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หากลุ่มเลข 0 ที่ยาวที่สุด (≥ 2 กลุ่ม) แล้วแทนด้วย :: เลือกกลุ่มซ้ายสุดเมื่อความยาวเท่ากัน (Canonical Form)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639312"/>
            <a:ext cx="457200" cy="457200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4904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59359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ตรวจสอบความถูกต้องหลายชั้น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3913632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โครงสร้าง Address (Regex), ขอบเขต Prefix (1–127), และการจัดตำแหน่ง Base Address ให้ตรงกับขอบเขต Prefix ของตัวเอง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3832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19672" y="3639312"/>
            <a:ext cx="457200" cy="457200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74904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59359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จัดสรร Subnet ขนาดเท่ากันทุกก้อน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78040" y="3913632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blockSize = 2^(128 − prefix) และ maxSubnets = 2^subnetBits คำนวณด้วยการ Shift บิตแบบ BigInt ทั้งหมด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126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RFC 4291 — เหตุผลที่ firstUsable = network + 1: ที่อยู่แรกของ Subnet สงวนไว้เป็น Subnet-Router Anycast Address เสมอ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10058400" y="652881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NetForge  ·  07 / 13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841B8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ตัวอย่างใช้งานจริง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ผลลัพธ์ Dual-Stack จากซอร์สโค้ดจริง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349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65960"/>
                <a:gridCol w="1965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แผนก</a:t>
                      </a:r>
                      <a:endParaRPr lang="en-US" sz="115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IPv4 (แจก IP แรก)</a:t>
                      </a:r>
                      <a:endParaRPr lang="en-US" sz="115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IPv6 (Network/Prefix)</a:t>
                      </a:r>
                      <a:endParaRPr lang="en-US" sz="115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D24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Office</a:t>
                      </a:r>
                      <a:endParaRPr lang="en-US" sz="125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41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192.168.1.33 /27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41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2001:db8:1::/64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D24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CCTV</a:t>
                      </a:r>
                      <a:endParaRPr lang="en-US" sz="125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41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192.168.1.65 /28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41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2001:db8:1:1::/64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D24"/>
                          </a:solidFill>
                          <a:latin typeface="Noto Sans Thai Looped" pitchFamily="34" charset="0"/>
                          <a:ea typeface="Noto Sans Thai Looped" pitchFamily="34" charset="-122"/>
                          <a:cs typeface="Noto Sans Thai Looped" pitchFamily="34" charset="-120"/>
                        </a:rPr>
                        <a:t>Guest-WiFi</a:t>
                      </a:r>
                      <a:endParaRPr lang="en-US" sz="1250" dirty="0">
                        <a:latin typeface="Noto Sans Thai Looped" charset="0"/>
                        <a:ea typeface="Noto Sans Thai Looped" charset="0"/>
                        <a:cs typeface="Noto Sans Thai Looped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41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192.168.1.1 /27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841B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2001:db8:1:2::/64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2044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Base IPv4: 192.168.1.0/24    ·    Base IPv6: 2001:db8:1::/48 → /64  (คำนวณอิสระจากกัน คนละ Address Plane)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172200" y="1645920"/>
            <a:ext cx="5486400" cy="4343400"/>
          </a:xfrm>
          <a:prstGeom prst="roundRect">
            <a:avLst>
              <a:gd name="adj" fmla="val 2105"/>
            </a:avLst>
          </a:prstGeom>
          <a:solidFill>
            <a:srgbClr val="0B1220"/>
          </a:solidFill>
          <a:ln/>
        </p:spPr>
      </p:sp>
      <p:sp>
        <p:nvSpPr>
          <p:cNvPr id="7" name="Text 4"/>
          <p:cNvSpPr/>
          <p:nvPr/>
        </p:nvSpPr>
        <p:spPr>
          <a:xfrm>
            <a:off x="6428232" y="18288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router-config.txt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28232" y="2331720"/>
            <a:ext cx="497433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C8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GigabitEthernet0/0.10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2F5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encapsulation dot1Q 10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2F5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address 192.168.1.33 255.255.255.224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ipv6 address 2001:db8:1::/64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 Link-Local (fe80::/10) สร้างอัตโนมัติ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! ใช้สำหรับ NDP — ไม่ต้องตั้งเอง</a:t>
            </a:r>
            <a:endParaRPr lang="en-US" sz="1200" dirty="0"/>
          </a:p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F2F5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description Office VLAN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52881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NetForge  ·  08 / 13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8DFF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Topology Canvas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การแสดงผลเชิงภาพแบบเรียลไทม์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41B2E"/>
          </a:solidFill>
          <a:ln w="12700">
            <a:solidFill>
              <a:srgbClr val="2835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65960"/>
            <a:ext cx="457200" cy="457200"/>
          </a:xfrm>
          <a:prstGeom prst="ellipse">
            <a:avLst/>
          </a:prstGeom>
          <a:solidFill>
            <a:srgbClr val="4C8D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756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ลากวางอุปกรณ์อิสระ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240280"/>
            <a:ext cx="4187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PC / Server วางเองบน Canvas ได้ ตำแหน่งไม่ถูกคำนวณทับเวลา Re-render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41B2E"/>
          </a:solidFill>
          <a:ln w="12700">
            <a:solidFill>
              <a:srgbClr val="2835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19672" y="1965960"/>
            <a:ext cx="457200" cy="457200"/>
          </a:xfrm>
          <a:prstGeom prst="ellipse">
            <a:avLst/>
          </a:prstGeom>
          <a:solidFill>
            <a:srgbClr val="4C8D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756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20240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เชื่อมสายตามหลักเครือข่ายจริง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78040" y="2240280"/>
            <a:ext cx="4187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ระบบตรวจสอบการเชื่อมต่อผิดหลักการก่อนอนุญาต ป้องกัน Error จากผู้ใช้ตั้งแต่ต้นทาง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41B2E"/>
          </a:solidFill>
          <a:ln w="12700">
            <a:solidFill>
              <a:srgbClr val="28355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4023360"/>
            <a:ext cx="457200" cy="457200"/>
          </a:xfrm>
          <a:prstGeom prst="ellipse">
            <a:avLst/>
          </a:prstGeom>
          <a:solidFill>
            <a:srgbClr val="4C8D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330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977640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Particle Flow Animation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4297680"/>
            <a:ext cx="4187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เส้นทางข้อมูลไหลตามสีของแต่ละแผนก ดูออกทันทีว่าอุปกรณ์ไหนเชื่อมกับใคร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7490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141B2E"/>
          </a:solidFill>
          <a:ln w="12700">
            <a:solidFill>
              <a:srgbClr val="28355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19672" y="4023360"/>
            <a:ext cx="457200" cy="457200"/>
          </a:xfrm>
          <a:prstGeom prst="ellipse">
            <a:avLst/>
          </a:prstGeom>
          <a:solidFill>
            <a:srgbClr val="4C8D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13308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977640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Recolor แบบรักษาตำแหน่งเดิม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78040" y="4297680"/>
            <a:ext cx="4187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สลับธีมหรือแก้สีแล้วไม่ต้อง Layout ใหม่ทั้งหมด — ตำแหน่งที่ผู้ใช้ลากไว้ไม่หายไป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058400" y="652881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NetForge  ·  09 / 13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841B8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UI / UX Upgrade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ระบบ Light / Dark Theme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0B122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420624" cy="420624"/>
          </a:xfrm>
          <a:prstGeom prst="ellipse">
            <a:avLst/>
          </a:prstGeom>
          <a:solidFill>
            <a:srgbClr val="141B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10" y="2002902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47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Dark (ค่าตั้งต้นเดิม)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2560320"/>
            <a:ext cx="384048" cy="384048"/>
          </a:xfrm>
          <a:prstGeom prst="ellipse">
            <a:avLst/>
          </a:prstGeom>
          <a:solidFill>
            <a:srgbClr val="4C8DFF"/>
          </a:solidFill>
          <a:ln w="12700">
            <a:solidFill>
              <a:srgbClr val="28355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29809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600200" y="2560320"/>
            <a:ext cx="384048" cy="384048"/>
          </a:xfrm>
          <a:prstGeom prst="ellipse">
            <a:avLst/>
          </a:prstGeom>
          <a:solidFill>
            <a:srgbClr val="0F1115"/>
          </a:solidFill>
          <a:ln w="12700">
            <a:solidFill>
              <a:srgbClr val="2835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63040" y="29809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377440" y="2560320"/>
            <a:ext cx="384048" cy="384048"/>
          </a:xfrm>
          <a:prstGeom prst="ellipse">
            <a:avLst/>
          </a:prstGeom>
          <a:solidFill>
            <a:srgbClr val="171A21"/>
          </a:solidFill>
          <a:ln w="12700">
            <a:solidFill>
              <a:srgbClr val="2835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40280" y="29809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54680" y="2560320"/>
            <a:ext cx="384048" cy="384048"/>
          </a:xfrm>
          <a:prstGeom prst="ellipse">
            <a:avLst/>
          </a:prstGeom>
          <a:solidFill>
            <a:srgbClr val="D8DAE0"/>
          </a:solidFill>
          <a:ln w="12700">
            <a:solidFill>
              <a:srgbClr val="28355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29809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22960" y="34747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เหมาะกับการใช้งานต่อเนื่องนาน ลดแสงจ้า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846320" y="1645920"/>
            <a:ext cx="3977640" cy="2651760"/>
          </a:xfrm>
          <a:prstGeom prst="roundRect">
            <a:avLst>
              <a:gd name="adj" fmla="val 3448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20640" y="190195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590" y="2002902"/>
            <a:ext cx="218724" cy="21872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69280" y="194767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Light (ค่าตั้งต้นใหม่ — Standard)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120640" y="2560320"/>
            <a:ext cx="384048" cy="384048"/>
          </a:xfrm>
          <a:prstGeom prst="ellipse">
            <a:avLst/>
          </a:prstGeom>
          <a:solidFill>
            <a:srgbClr val="1841B8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983480" y="29809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neon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5897880" y="2560320"/>
            <a:ext cx="384048" cy="384048"/>
          </a:xfrm>
          <a:prstGeom prst="ellipse">
            <a:avLst/>
          </a:prstGeom>
          <a:solidFill>
            <a:srgbClr val="C9D6F2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760720" y="29809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675120" y="2560320"/>
            <a:ext cx="384048" cy="384048"/>
          </a:xfrm>
          <a:prstGeom prst="ellipse">
            <a:avLst/>
          </a:prstGeom>
          <a:solidFill>
            <a:srgbClr val="E1E9FA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37960" y="29809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7452360" y="2560320"/>
            <a:ext cx="384048" cy="384048"/>
          </a:xfrm>
          <a:prstGeom prst="ellipse">
            <a:avLst/>
          </a:prstGeom>
          <a:solidFill>
            <a:srgbClr val="1A1D24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315200" y="298094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5120640" y="34747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ปรับ 3 รอบตามผลตอบรับจริง จนได้โทนสีที่มีสีสันแต่ไม่แสบตา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548640" y="4553712"/>
            <a:ext cx="8275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22960" y="4700016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41B8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4.5 : 1</a:t>
            </a:r>
            <a:endParaRPr lang="en-US" sz="3200" dirty="0"/>
          </a:p>
        </p:txBody>
      </p:sp>
      <p:sp>
        <p:nvSpPr>
          <p:cNvPr id="32" name="Text 28"/>
          <p:cNvSpPr/>
          <p:nvPr/>
        </p:nvSpPr>
        <p:spPr>
          <a:xfrm>
            <a:off x="2423160" y="4754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WCAG AA Contrast Ratio ขั้นต่ำ — ตรวจสอบครบทุกคู่สีข้อความ ทั้ง 2 ธีม ก่อนใช้งานจริง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9006840" y="1645920"/>
            <a:ext cx="365760" cy="365760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4622" y="1733702"/>
            <a:ext cx="190195" cy="190195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9518904" y="160934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แหล่งสีเดียว ไม่ชนกัน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9518904" y="201168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CSS Variables + Tailwind Config อ้างอิงตัวแปรเดียวกัน แก้ปัญหา 2 แหล่งข้อมูลสีไม่ตรงกัน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9006840" y="3017520"/>
            <a:ext cx="365760" cy="365760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4622" y="3105302"/>
            <a:ext cx="190195" cy="190195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518904" y="298094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Canvas แยกตัวแปรสี</a:t>
            </a:r>
            <a:endParaRPr lang="en-US" sz="1250" dirty="0"/>
          </a:p>
        </p:txBody>
      </p:sp>
      <p:sp>
        <p:nvSpPr>
          <p:cNvPr id="40" name="Text 34"/>
          <p:cNvSpPr/>
          <p:nvPr/>
        </p:nvSpPr>
        <p:spPr>
          <a:xfrm>
            <a:off x="9518904" y="338328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Canvas อ่านค่า CSS Variable โดยตรงไม่ได้ ต้องมีชุดตัวแปรสีสำรองที่สลับพร้อมกัน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9006840" y="4389120"/>
            <a:ext cx="365760" cy="365760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4622" y="4476902"/>
            <a:ext cx="190195" cy="190195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9518904" y="435254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ขยายตัวอักษรทั้งแอป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9518904" y="475488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ปรับทุกไฟล์ ทั้ง CSS/HTML/Canvas พร้อมขยายกล่องอุปกรณ์ให้สมส่วน ลดอาการเสียสายตา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10058400" y="652881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NetForge  ·  10 / 13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841B8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Stability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เสริมความเสถียรของระบบ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65960"/>
            <a:ext cx="457200" cy="457200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7568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ดัก Error ทุกจุดที่ผู้ใช้กรอกข้อมูล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63040" y="2240280"/>
            <a:ext cx="4187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Try/Catch ครอบคลุม init(), การคำนวณ, โหลดตัวอย่าง, ล้างข้อมูล — พังแล้วไม่ค้าง มีหน้าจอแจ้งเตือนสำรองเสมอ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19672" y="1965960"/>
            <a:ext cx="457200" cy="457200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7568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920240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localStorage ทนทานต่อความล้มเหลว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78040" y="2240280"/>
            <a:ext cx="4187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แยก Try/Catch เฉพาะส่วนบันทึกค่า ธีมยังสลับได้แม้บันทึกไม่สำเร็จ เช่นเปิดผ่าน file:// หรือ Private Browsing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EEF3FC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4023360"/>
            <a:ext cx="457200" cy="457200"/>
          </a:xfrm>
          <a:prstGeom prst="ellipse">
            <a:avLst/>
          </a:prstGeom>
          <a:solidFill>
            <a:srgbClr val="1841B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3308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977640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ทดสอบอัตโนมัติ 37 Assertions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63040" y="4297680"/>
            <a:ext cx="4187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ครอบคลุม Boot Default, สลับธีม, ตำแหน่ง Node ไม่เปลี่ยนตอน Recolor, จำลอง Event จริงบน UI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74904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E4ECFB"/>
          </a:solidFill>
          <a:ln w="12700">
            <a:solidFill>
              <a:srgbClr val="D7E3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19672" y="402336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13308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977640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4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รู้ปัญหาที่เหลืออยู่ ไม่ปิดบัง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78040" y="4297680"/>
            <a:ext cx="4187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พบว่าปุ่ม Summarize Route ใน Net Tools ยังเรียกฟังก์ชันที่ไม่มีอยู่จริง — บันทึกไว้ในคิวแก้ไขรอบถัดไป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058400" y="652881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NetForge  ·  11 / 13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8DFF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สรุป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สรุปผลงาน และแผนต่อไป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8DFF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งานที่เสร็จแล้ว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74320" cy="274320"/>
          </a:xfrm>
          <a:prstGeom prst="ellipse">
            <a:avLst/>
          </a:prstGeom>
          <a:solidFill>
            <a:srgbClr val="141B2E"/>
          </a:solidFill>
          <a:ln w="12700">
            <a:solidFill>
              <a:srgbClr val="4C8D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2071116"/>
            <a:ext cx="155448" cy="155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9842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แยก Logic Router / Switch / PC / Server ออกจากกันชัดเจน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274320" cy="274320"/>
          </a:xfrm>
          <a:prstGeom prst="ellipse">
            <a:avLst/>
          </a:prstGeom>
          <a:solidFill>
            <a:srgbClr val="141B2E"/>
          </a:solidFill>
          <a:ln w="12700">
            <a:solidFill>
              <a:srgbClr val="4C8D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2528316"/>
            <a:ext cx="155448" cy="1554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24414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เพิ่มการคำนวณ IPv6 แบบ Dual-Stack คู่ขนาน IPv4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926080"/>
            <a:ext cx="274320" cy="274320"/>
          </a:xfrm>
          <a:prstGeom prst="ellipse">
            <a:avLst/>
          </a:prstGeom>
          <a:solidFill>
            <a:srgbClr val="141B2E"/>
          </a:solidFill>
          <a:ln w="12700">
            <a:solidFill>
              <a:srgbClr val="4C8D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2985516"/>
            <a:ext cx="155448" cy="1554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0120" y="28986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ปรับระบบ Light / Dark Theme ผ่านมาตรฐาน WCAG AA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48640" y="3383280"/>
            <a:ext cx="274320" cy="274320"/>
          </a:xfrm>
          <a:prstGeom prst="ellipse">
            <a:avLst/>
          </a:prstGeom>
          <a:solidFill>
            <a:srgbClr val="141B2E"/>
          </a:solidFill>
          <a:ln w="12700">
            <a:solidFill>
              <a:srgbClr val="4C8D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3442716"/>
            <a:ext cx="155448" cy="1554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3558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เสริม Error Handling ทั้ง Validation และ Canvas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3840480"/>
            <a:ext cx="274320" cy="274320"/>
          </a:xfrm>
          <a:prstGeom prst="ellipse">
            <a:avLst/>
          </a:prstGeom>
          <a:solidFill>
            <a:srgbClr val="141B2E"/>
          </a:solidFill>
          <a:ln w="12700">
            <a:solidFill>
              <a:srgbClr val="4C8D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" y="3899916"/>
            <a:ext cx="155448" cy="1554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0120" y="38130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ขยายขนาดตัวอักษรทั้งแอป ลดอาการเสียสายตา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548640" y="4297680"/>
            <a:ext cx="274320" cy="274320"/>
          </a:xfrm>
          <a:prstGeom prst="ellipse">
            <a:avLst/>
          </a:prstGeom>
          <a:solidFill>
            <a:srgbClr val="141B2E"/>
          </a:solidFill>
          <a:ln w="12700">
            <a:solidFill>
              <a:srgbClr val="4C8DF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" y="4357116"/>
            <a:ext cx="155448" cy="15544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60120" y="42702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วางชุดทดสอบอัตโนมัติ 37 Assertions ครอบคลุมธีม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400800" y="1600200"/>
            <a:ext cx="5257800" cy="4434840"/>
          </a:xfrm>
          <a:prstGeom prst="roundRect">
            <a:avLst>
              <a:gd name="adj" fmla="val 2062"/>
            </a:avLst>
          </a:prstGeom>
          <a:solidFill>
            <a:srgbClr val="141B2E"/>
          </a:solidFill>
          <a:ln w="12700">
            <a:solidFill>
              <a:srgbClr val="283552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6693408" y="1874520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7525" y="1988637"/>
            <a:ext cx="247254" cy="24725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315200" y="1947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แผนต่อไป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6720840" y="251460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แก้ปุ่ม Summarize Route ในแท็บ Net Tools ให้ใช้งานได้จริง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ต่อยอดฟีเจอร์ระดับสูงบนโครง Device Model ที่แยกใหม่ (เช่น กติกาการเชื่อมต่อเฉพาะประเภทอุปกรณ์)</a:t>
            </a:r>
            <a:endParaRPr lang="en-US" sz="1250" dirty="0"/>
          </a:p>
          <a:p>
            <a:pPr marL="177800" indent="-1778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ขยายชุดทดสอบอัตโนมัติให้ครอบคลุมส่วน VLSM / IPv6 Engine เพิ่มเติม</a:t>
            </a:r>
            <a:endParaRPr lang="en-US" sz="1250" dirty="0"/>
          </a:p>
        </p:txBody>
      </p:sp>
      <p:sp>
        <p:nvSpPr>
          <p:cNvPr id="28" name="Text 19"/>
          <p:cNvSpPr/>
          <p:nvPr/>
        </p:nvSpPr>
        <p:spPr>
          <a:xfrm>
            <a:off x="10058400" y="652881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NetForge  ·  12 / 13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0" y="1097280"/>
            <a:ext cx="1280160" cy="457200"/>
          </a:xfrm>
          <a:prstGeom prst="line">
            <a:avLst/>
          </a:prstGeom>
          <a:noFill/>
          <a:ln w="15875">
            <a:solidFill>
              <a:srgbClr val="2835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914400" y="1097280"/>
            <a:ext cx="365760" cy="1280160"/>
          </a:xfrm>
          <a:prstGeom prst="line">
            <a:avLst/>
          </a:prstGeom>
          <a:noFill/>
          <a:ln w="15875">
            <a:solidFill>
              <a:srgbClr val="2835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2286000" y="1554480"/>
            <a:ext cx="274320" cy="1280160"/>
          </a:xfrm>
          <a:prstGeom prst="line">
            <a:avLst/>
          </a:prstGeom>
          <a:noFill/>
          <a:ln w="15875">
            <a:solidFill>
              <a:srgbClr val="2835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77440"/>
            <a:ext cx="1371600" cy="457200"/>
          </a:xfrm>
          <a:prstGeom prst="line">
            <a:avLst/>
          </a:prstGeom>
          <a:noFill/>
          <a:ln w="15875">
            <a:solidFill>
              <a:srgbClr val="2835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07008" y="1024128"/>
            <a:ext cx="146304" cy="146304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7" name="Shape 5"/>
          <p:cNvSpPr/>
          <p:nvPr/>
        </p:nvSpPr>
        <p:spPr>
          <a:xfrm>
            <a:off x="2487168" y="148132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304288"/>
            <a:ext cx="146304" cy="146304"/>
          </a:xfrm>
          <a:prstGeom prst="ellipse">
            <a:avLst/>
          </a:prstGeom>
          <a:solidFill>
            <a:srgbClr val="4C8DFF"/>
          </a:solidFill>
          <a:ln/>
        </p:spPr>
      </p:sp>
      <p:sp>
        <p:nvSpPr>
          <p:cNvPr id="9" name="Shape 7"/>
          <p:cNvSpPr/>
          <p:nvPr/>
        </p:nvSpPr>
        <p:spPr>
          <a:xfrm>
            <a:off x="2212848" y="276148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346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5F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ขอบคุณครับ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CC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NetForge — VLSM Calculator &amp; Network Topology Visualizer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8DFF"/>
                </a:solidFill>
                <a:latin typeface="Noto Sans Thai Looped" pitchFamily="34" charset="0"/>
                <a:ea typeface="Noto Sans Thai Looped" pitchFamily="34" charset="-122"/>
                <a:cs typeface="Noto Sans Thai Looped" pitchFamily="34" charset="-120"/>
              </a:rPr>
              <a:t>คำถาม / ข้อเสนอแนะ ยินดีรับฟังครับ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NetForge — อัพเดทโปรเจคล่าสุด</dc:title>
  <dc:subject>PptxGenJS Presentation</dc:subject>
  <dc:creator>NetForge Project</dc:creator>
  <cp:lastModifiedBy>NetForge Project</cp:lastModifiedBy>
  <cp:revision>1</cp:revision>
  <dcterms:created xsi:type="dcterms:W3CDTF">2026-07-25T16:00:40Z</dcterms:created>
  <dcterms:modified xsi:type="dcterms:W3CDTF">2026-07-25T16:00:40Z</dcterms:modified>
</cp:coreProperties>
</file>